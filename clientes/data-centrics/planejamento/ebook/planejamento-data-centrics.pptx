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36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INICIAL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Centrics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A36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PROJETO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construir juntos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E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uma estratégia de tráfego pago no Google Ads, posicionar a Data Centrics como referência em serviços de contingência — Disaster Recovery e Backup — para empresas mid-market e corporate do Sul e Sudeste do Brasil. O foco é capturar leads que já identificaram um problema e estão buscando solução, criando um pipeline qualificado antes de avançar para a venda direta de infraestrutura.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DO PROJETO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vamos chegar lá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956816"/>
            <a:ext cx="107350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274320" cy="274320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9572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Ads — Tráfego pago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de leads qualificados via Rede de Pesquisa com campanhas de contingência e disaster recovery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511296"/>
            <a:ext cx="107350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274320" cy="274320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502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70332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Relatórios e acompanhamento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1148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resultados, identificar o que funciona e ajustar a estratégia continuamente com base em dados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 de anúncios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57600" cy="50292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01368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CAMPANHA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2112264"/>
            <a:ext cx="332841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leads via Rede de Pesquisa (topo e meio de funil). O ebook gratuito de Backup &amp; Disaster Recovery é a isca: o usuário troca o contato pelo material e entra na base para nutrição. Verba de R$ 2.000/mês.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0248" y="169164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70248" y="1691640"/>
            <a:ext cx="3657600" cy="50292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01368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SUGERIDA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34840" y="2112264"/>
            <a:ext cx="332841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1: Disaster Recovery / DRaaS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2: Contingência / Continuidade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3: Ransomware / Risco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(Backup e novos grupos entram em fases seguintes conforme resultado e verba)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91856" y="169164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91856" y="1691640"/>
            <a:ext cx="3657600" cy="50292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801368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E SETUP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156448" y="2112264"/>
            <a:ext cx="3328416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Apenas Rede de Pesquisa (intenção ativa)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Geo: Porto Alegre, Região Metropolitana e Vale dos Sinos / Caxias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Correspondência frase e exata no início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Expansão para o Sudeste na fase 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funil que vamos construir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campanha do ebook não é o fim — é a boca do funil. Capturamos cedo quem tem a dor, qualificamos na nutrição e entregamos leads mais maduros para o comercial.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578608"/>
            <a:ext cx="274320" cy="274320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9689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" y="2386584"/>
            <a:ext cx="10378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Atração — Anúncio na Pesquisa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2715768"/>
            <a:ext cx="10378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quem busca disaster recovery, contingência, ransomware e backup em nuvem.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9875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3447288"/>
            <a:ext cx="274320" cy="274320"/>
          </a:xfrm>
          <a:prstGeom prst="ellipse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655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3255264"/>
            <a:ext cx="9189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Isca — Landing do ebook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3584448"/>
            <a:ext cx="9189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o material de alto valor (AWS + dados de mercado) pelo contato. Baixa fricção.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86868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4315968"/>
            <a:ext cx="274320" cy="274320"/>
          </a:xfrm>
          <a:prstGeom prst="ellipse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33425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" y="4123944"/>
            <a:ext cx="8001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Nutrição — RD Station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4453128"/>
            <a:ext cx="8001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automatizada reforça autoridade DCX + AWS e leva ao diagnóstico.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7498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5184648"/>
            <a:ext cx="274320" cy="274320"/>
          </a:xfrm>
          <a:prstGeom prst="ellipse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2029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" y="4992624"/>
            <a:ext cx="6812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— Pipedrive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992" y="5321808"/>
            <a:ext cx="6812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que esquenta vira oportunidade. Comercial atende. Ciclo médio ~25 dias.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6309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6053328"/>
            <a:ext cx="274320" cy="274320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0716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" y="5861304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(fase 2)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8992" y="6190488"/>
            <a:ext cx="5623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baixou e não avançou é reimpactado com casos e oferta de diagnóstico.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Concorrência no Google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4864" cy="2011680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664208"/>
            <a:ext cx="53675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1792224"/>
            <a:ext cx="503834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801368"/>
            <a:ext cx="4992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Claranet Brasil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49926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presença em pesquisa com DR e backup corporativo. Comunicação técnica, foco em RTO/RPO customizados e compliance. Posicionamento consultivo, voltado para enterprise. Tom formal, pouco diferenciado no aspecto humano.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17336" y="1664208"/>
            <a:ext cx="54864" cy="2011680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664208"/>
            <a:ext cx="53675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792224"/>
            <a:ext cx="503834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9944" y="1801368"/>
            <a:ext cx="4992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9944" y="2194560"/>
            <a:ext cx="49926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player de TI com DRaaS integrado ao portfólio de managed services. Marca mais conhecida no enterprise. Concorrência mais direta para o segmento corporate acima de R$ 50M.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864" cy="2011680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3794760"/>
            <a:ext cx="53675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" y="3922776"/>
            <a:ext cx="503834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3931920"/>
            <a:ext cx="4992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Brasil Cloud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4325112"/>
            <a:ext cx="49926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anos de mercado, data center em Uberlândia. Failover automatizado, bom custo-benefício. Menor sobreposição com o ICP da Data Centrics, mas pode disputar mid-market.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17336" y="3794760"/>
            <a:ext cx="54864" cy="2011680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3794760"/>
            <a:ext cx="53675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64224" y="3922776"/>
            <a:ext cx="503834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9944" y="3931920"/>
            <a:ext cx="4992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6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Cloud / AWS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9944" y="4325112"/>
            <a:ext cx="49926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Aparecem fortemente em buscas de DR e backup. São parceiros e concorrentes — a diferenciação da DCX Cloud (nuvem própria, atendimento humano em PT-BR) precisa estar clara para não se perder no comparativo.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Oportunidade: nenhum concorrente comunica bem o aspecto humano. Atendimento 24/7 + 600 certificações + equipe em PT-BR é um diferencial real para explorar nas copies.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Grupos de anúncios sugeridos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819656"/>
            <a:ext cx="1073505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58568"/>
            <a:ext cx="274320" cy="274320"/>
          </a:xfrm>
          <a:prstGeom prst="ellipse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7685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02082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Disaster Recovery / DRaaS  ·  prioridade máxima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4144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as a service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DRaaS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disaster recovery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desastres em nuvem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recuperação de desastres ti   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1064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392424"/>
            <a:ext cx="1073505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831336"/>
            <a:ext cx="274320" cy="274320"/>
          </a:xfrm>
          <a:prstGeom prst="ellipse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962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59359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Contingência / Continuidade  ·  prevenção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01421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contingência ti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contingência de ti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continuidade de negócios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 de negócios ti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 de servidores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e failback   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064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4965192"/>
            <a:ext cx="1073505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5404104"/>
            <a:ext cx="274320" cy="274320"/>
          </a:xfrm>
          <a:prstGeom prst="ellipse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422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516636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Ransomware / Risco  ·  dor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558698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dados após ransomware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ransomware empresas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evitar downtime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empresariais  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manter sistema no ar   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Correspondência: frase e exata no início, para controlar o custo com verba enxuta. Negativas iniciais: vaga, emprego, curso, certificação, tutorial, licitação, prefeitura + nomes de concorrentes.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Textos sugeridos dos anúncios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61188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64208"/>
            <a:ext cx="3611880" cy="329184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1: Disaster Recovery / DRaaS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23500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Disaster Recovery na Nuvem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Plano de Recuperação de TI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1729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DRaaS com Tecnologia AWS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58444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Ebook Grátis de DR e Backup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9959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Evite Paradas na Operação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44074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RTO e RPO Baixos com AWS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8920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DESCRIÇÕES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516636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Baixe o ebook gratuito sobre Disaster Recovery e proteja sua empresa contra paradas.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58795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Recupere seus sistemas em minutos após qualquer falha. Tecnologia AWS com SLA garantido.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33672" y="1664208"/>
            <a:ext cx="361188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33672" y="1664208"/>
            <a:ext cx="3611880" cy="329184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0832" y="16916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2: Contingência / Continuidade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70832" y="207568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370832" y="23500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Plano de Contingência de TI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70832" y="27614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Continuidade de Negócios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70832" y="31729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Sua Operação Sempre no 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70832" y="358444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Failover e Failback na AWS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70832" y="39959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Ebook Grátis de Contingência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70832" y="44074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Evite Downtime na Empresa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70832" y="48920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DESCRIÇÕES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370832" y="516636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Garanta que sua empresa continue operando mesmo após falhas. Baixe o ebook grátis.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70832" y="58795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Monte um plano de continuidade com a robustez da AWS. Sem segundo data center físico.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18704" y="1664208"/>
            <a:ext cx="361188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18704" y="1664208"/>
            <a:ext cx="3611880" cy="329184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55864" y="16916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3: Ransomware / Risco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55864" y="207568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055864" y="23500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Proteção Contra Ransomware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55864" y="27614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Seus Dados Estão Seguros?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55864" y="31729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Sua Empresa Está em Risco?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55864" y="358444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Blindagem de Dados na AWS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55864" y="39959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Ebook Grátis de Proteção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55864" y="44074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Evite Perder Seus Dados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055864" y="48920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DESCRIÇÕES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055864" y="516636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Ransomware, falha de hardware ou erro humano: proteja seus dados antes que seja tarde.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55864" y="58795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Baixe o ebook e descubra como proteger sua empresa contra ataques e perdas de dados.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o anúncio aparece no Google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91440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10512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— Disaster Recovery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  ·  datacentrics.cloud/ebook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50008"/>
            <a:ext cx="8778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 na Nuvem | Ebook Grátis de DR e Backup | DataCentrics + AWS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D5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o ebook gratuito sobre Disaster Recovery e proteja sua empresa contra paradas. Recupere seus sistemas em minutos após qualquer falha. Tecnologia AWS com SLA garantido.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91440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187952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Ransomware / Risco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4453128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  ·  datacentrics.cloud/ebook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727448"/>
            <a:ext cx="8778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0D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Contra Ransomware | Seus Dados Estão Seguros? | Ebook Gratuito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25780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D5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falha de hardware ou erro humano: proteja seus dados antes que seja tarde. Baixe o ebook e descubra como proteger sua empresa contra ataques e perdas de dados.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Pré-visualização ilustrativa. O Google combina automaticamente os títulos e descrições aprovados; o formato final varia conforme o dispositivo e o termo buscado.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Ajustes na landing page do ebook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4864" cy="1481328"/>
          </a:xfrm>
          <a:prstGeom prst="rect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64208"/>
            <a:ext cx="109728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3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Botão de evento gera fricção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O botão de evento não traz nenhuma informação — sem data, local ou contexto. Tira o foco da oferta principal (o ebook).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9689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Ocultar o botão por enquanto. Quando houver um evento real com data e detalhes, reativar.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4864" cy="1481328"/>
          </a:xfrm>
          <a:prstGeom prst="rect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291840"/>
            <a:ext cx="109728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42900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3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Formulário trava na confirmação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Depois de preencher, o formulário fica congelado alguns segundos até exibir o aviso de confirmação — passa sensação de erro.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224528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Revisar o formulário para que a confirmação seja imediata (tempo de resposta e feedback de envio).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919472"/>
            <a:ext cx="54864" cy="1481328"/>
          </a:xfrm>
          <a:prstGeom prst="rect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919472"/>
            <a:ext cx="109728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056632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3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Redireciona direto para o Drive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42239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Após o preenchimento, o usuário é redirecionado direto para o link do ebook no Google Drive.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852160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Criar uma página de obrigado com botão de download. Melhora o rastreamento (conversão na página de obrigado) e a experiência do usuário.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Rastreamento, otimização e metas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57600" cy="50292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01368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2112264"/>
            <a:ext cx="33284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Conversão: envio do formulário do ebook + clique no WhatsApp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Stack: GTM + GA4 → Google Ads → RD Station → Pipedrive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o disparo de conversão testado, a campanha não vai ao 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61104" y="169164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61104" y="1691640"/>
            <a:ext cx="3657600" cy="50292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1801368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LANCES E OTIMIZAÇÃO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25696" y="2112264"/>
            <a:ext cx="33284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Fase 1: Maximizar cliques com teto de CPC (frase/exata)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Fase 2: Maximizar conversões e CPA-alvo após ~15–30 conversões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Revisão dos termos de pesquisa 2x/semana alimentando as negativas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73568" y="169164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73568" y="1691640"/>
            <a:ext cx="3657600" cy="50292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801368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(R$ 2.000/MÊS)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138160" y="2112264"/>
            <a:ext cx="3328416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CPC R$ 6–12 → ~170–330 cliques/mês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Conversão da LP 10–20% → ~20–55 leads/mês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 por lead alvo: R$ 40–90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8521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lead de ebook é topo/meio — a venda amadurece na nutrição + comercial (~25 dias). A meta de curto prazo é volume e custo por lead saudável, com qualidade (setor e porte certos). Próximos meses: novos grupos (Backup em nuvem, termos por setor) entram conforme resultado e verba.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Dúvidas e perguntas para o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E COPY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67D"/>
            </a:solidFill>
            <a:prstDash val="solid"/>
            <a:headEnd type="none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50292" cy="475488"/>
          </a:xfrm>
          <a:prstGeom prst="rect">
            <a:avLst/>
          </a:prstGeom>
          <a:solidFill>
            <a:srgbClr val="F0867D"/>
          </a:solidFill>
          <a:ln w="12700">
            <a:solidFill>
              <a:srgbClr val="F086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algum produto ou serviço que não deve ser mencionado nos anúncios? (ex: AWS, para não gerar expectativa de preço incompatível com a DCX Cloud)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110642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67D"/>
            </a:solidFill>
            <a:prstDash val="solid"/>
            <a:headEnd type="none"/>
          </a:ln>
        </p:spPr>
      </p:sp>
      <p:sp>
        <p:nvSpPr>
          <p:cNvPr id="9" name="Shape 7"/>
          <p:cNvSpPr/>
          <p:nvPr/>
        </p:nvSpPr>
        <p:spPr>
          <a:xfrm>
            <a:off x="548640" y="2578608"/>
            <a:ext cx="50292" cy="475488"/>
          </a:xfrm>
          <a:prstGeom prst="rect">
            <a:avLst/>
          </a:prstGeom>
          <a:solidFill>
            <a:srgbClr val="F0867D"/>
          </a:solidFill>
          <a:ln w="12700">
            <a:solidFill>
              <a:srgbClr val="F086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51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CTA preferido nos formulários da landing page? (ex: fale com especialista / solicite diagnóstico / baixe o ebook)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110642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67D"/>
            </a:solidFill>
            <a:prstDash val="solid"/>
            <a:headEnd type="none"/>
          </a:ln>
        </p:spPr>
      </p:sp>
      <p:sp>
        <p:nvSpPr>
          <p:cNvPr id="12" name="Shape 10"/>
          <p:cNvSpPr/>
          <p:nvPr/>
        </p:nvSpPr>
        <p:spPr>
          <a:xfrm>
            <a:off x="548640" y="3145536"/>
            <a:ext cx="50292" cy="475488"/>
          </a:xfrm>
          <a:prstGeom prst="rect">
            <a:avLst/>
          </a:prstGeom>
          <a:solidFill>
            <a:srgbClr val="F0867D"/>
          </a:solidFill>
          <a:ln w="12700">
            <a:solidFill>
              <a:srgbClr val="F086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1868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algum case de cliente que pode ser usado como prova social nas copies ou na landing page?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8770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110642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67D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548640" y="4197096"/>
            <a:ext cx="50292" cy="475488"/>
          </a:xfrm>
          <a:prstGeom prst="rect">
            <a:avLst/>
          </a:prstGeom>
          <a:solidFill>
            <a:srgbClr val="F0867D"/>
          </a:solidFill>
          <a:ln w="12700">
            <a:solidFill>
              <a:srgbClr val="F086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702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link da landing page atual para analisarmos a estrutura e decidir entre ajustar ou criar uma nova?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110642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67D"/>
            </a:solidFill>
            <a:prstDash val="solid"/>
            <a:headEnd type="none"/>
          </a:ln>
        </p:spPr>
      </p:sp>
      <p:sp>
        <p:nvSpPr>
          <p:cNvPr id="19" name="Shape 17"/>
          <p:cNvSpPr/>
          <p:nvPr/>
        </p:nvSpPr>
        <p:spPr>
          <a:xfrm>
            <a:off x="548640" y="4764024"/>
            <a:ext cx="50292" cy="475488"/>
          </a:xfrm>
          <a:prstGeom prst="rect">
            <a:avLst/>
          </a:prstGeom>
          <a:solidFill>
            <a:srgbClr val="F0867D"/>
          </a:solidFill>
          <a:ln w="12700">
            <a:solidFill>
              <a:srgbClr val="F086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8371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ebook de contingência já está pronto ou ainda será desenvolvido? Em qual etapa ele deve aparecer no fluxo?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4955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RASTREAMENTO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5815584"/>
            <a:ext cx="110642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67D"/>
            </a:solidFill>
            <a:prstDash val="solid"/>
            <a:headEnd type="none"/>
          </a:ln>
        </p:spPr>
      </p:sp>
      <p:sp>
        <p:nvSpPr>
          <p:cNvPr id="23" name="Shape 21"/>
          <p:cNvSpPr/>
          <p:nvPr/>
        </p:nvSpPr>
        <p:spPr>
          <a:xfrm>
            <a:off x="548640" y="5815584"/>
            <a:ext cx="50292" cy="475488"/>
          </a:xfrm>
          <a:prstGeom prst="rect">
            <a:avLst/>
          </a:prstGeom>
          <a:solidFill>
            <a:srgbClr val="F0867D"/>
          </a:solidFill>
          <a:ln w="12700">
            <a:solidFill>
              <a:srgbClr val="F086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88873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PipeDrive já está configurado com os estágios do funil definidos, ou vamos estruturar isso junto?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382512"/>
            <a:ext cx="110642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67D"/>
            </a:solidFill>
            <a:prstDash val="solid"/>
            <a:headEnd type="none"/>
          </a:ln>
        </p:spPr>
      </p:sp>
      <p:sp>
        <p:nvSpPr>
          <p:cNvPr id="26" name="Shape 24"/>
          <p:cNvSpPr/>
          <p:nvPr/>
        </p:nvSpPr>
        <p:spPr>
          <a:xfrm>
            <a:off x="548640" y="6382512"/>
            <a:ext cx="50292" cy="475488"/>
          </a:xfrm>
          <a:prstGeom prst="rect">
            <a:avLst/>
          </a:prstGeom>
          <a:solidFill>
            <a:srgbClr val="F0867D"/>
          </a:solidFill>
          <a:ln w="12700">
            <a:solidFill>
              <a:srgbClr val="F086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45566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do time da Data Centrics vai responder os leads via WhatsApp? Vai usar rodízio (Digissac) ou número fixo?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Demandas em aberto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4864" cy="841248"/>
          </a:xfrm>
          <a:prstGeom prst="rect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64208"/>
            <a:ext cx="10972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28216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dos arquivos institucionais e comerciais da Data Centrics (apresentações, manual de marca, materiais)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Ana Clara Sanhudo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642616"/>
            <a:ext cx="54864" cy="841248"/>
          </a:xfrm>
          <a:prstGeom prst="rect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42616"/>
            <a:ext cx="10972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706624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contatos para o grupo de WhatsApp + datas de aniversário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172968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Ana Clara Sanhudo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621024"/>
            <a:ext cx="54864" cy="841248"/>
          </a:xfrm>
          <a:prstGeom prst="rect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621024"/>
            <a:ext cx="10972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68503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 do RD Station — Moinho Digital contrata e adiciona a Data Centrics como admin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151376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Ina Cunha | Moinho Digital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54864" cy="841248"/>
          </a:xfrm>
          <a:prstGeom prst="rect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99432"/>
            <a:ext cx="10972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663440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do grupo no WhatsApp com todos os envolvidos no projeto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129784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Ina Cunha | Moinho Digital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54864" cy="841248"/>
          </a:xfrm>
          <a:prstGeom prst="rect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577840"/>
            <a:ext cx="10972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5641848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ferramentas de centralização de atendimento via WhatsApp (sugestão: Digissac)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6108192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Vinícius Silva | Moinho Digital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Conteúdos para aprovação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2996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02996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anúncios e palavras-chave por grupo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94436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94436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dos anúncios (copies) para aprovação da Data Centrics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85876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85876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sugestão de estrutura da landing page (até 19/06)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77316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77316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das integrações: GA4, GTM, RD Station e Pipedrive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568756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68756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do slide de alinhamentos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Primeiras semanas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15568" y="1664208"/>
            <a:ext cx="50292" cy="4937760"/>
          </a:xfrm>
          <a:prstGeom prst="rect">
            <a:avLst/>
          </a:prstGeom>
          <a:solidFill>
            <a:srgbClr val="5A368C"/>
          </a:solidFill>
          <a:ln w="12700">
            <a:solidFill>
              <a:srgbClr val="5A36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920240"/>
            <a:ext cx="256032" cy="256032"/>
          </a:xfrm>
          <a:prstGeom prst="ellipse">
            <a:avLst/>
          </a:prstGeom>
          <a:solidFill>
            <a:srgbClr val="F0867D"/>
          </a:solidFill>
          <a:ln w="12700">
            <a:solidFill>
              <a:srgbClr val="F086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719072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02/06 — HOJE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63040" y="199339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apresentação do planejamento e alinhamento inicial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87552" y="2761488"/>
            <a:ext cx="256032" cy="256032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560320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23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10/06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dos grupos de anúncios, copies e envio dos acessos e materiais pela Data Centrics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87552" y="3602736"/>
            <a:ext cx="256032" cy="256032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40156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23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19/06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63040" y="367588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reunião para apresentar análise e sugestão de estrutura da landing page + alinhamento de campanha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4443984"/>
            <a:ext cx="256032" cy="256032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24281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23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3–4 (JUNHO)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63040" y="4517136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das contas e ferramentas (Google Ads, GA4, GTM, RD Station, Pipedrive) e setup das integrações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5285232"/>
            <a:ext cx="256032" cy="256032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5084064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23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 JUNHO / INÍCIO DE JULHO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63040" y="5358384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das campanhas e monitoramento dos primeiros resultados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6126480"/>
            <a:ext cx="256032" cy="256032"/>
          </a:xfrm>
          <a:prstGeom prst="ellipse">
            <a:avLst/>
          </a:prstGeom>
          <a:solidFill>
            <a:srgbClr val="D23E4F"/>
          </a:solidFill>
          <a:ln w="12700">
            <a:solidFill>
              <a:srgbClr val="D23E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5925312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23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463040" y="619963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relatório com dados consolidados e reunião de alinhamento estratégico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1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Vamos colocar essa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 em movimento?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COM A GENTE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358444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contato@moinhod.com.br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405993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(51) 99646-8205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453542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moinhod.com.br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80560" y="32004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0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480560" y="358444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@moinhod (Instagram)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80560" y="405993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Moinho Digital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321040" y="358444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Conteúdos que envolvem, estratégias que expandem.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21040" y="405993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Tração para negócios que importam.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2026-06-19T11:12:55Z</dcterms:created>
  <dcterms:modified xsi:type="dcterms:W3CDTF">2026-06-19T11:12:55Z</dcterms:modified>
</cp:coreProperties>
</file>